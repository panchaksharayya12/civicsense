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ivic-sense-rouge.vercel.app" TargetMode="External"/><Relationship Id="rId3" Type="http://schemas.openxmlformats.org/officeDocument/2006/relationships/hyperlink" Target="https://github.com/panchaksharayya12/CivicSens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9144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5448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6B6D4"/>
                </a:solidFill>
                <a:latin typeface="Calibri"/>
              </a:rPr>
              <a:t>SMART URBAN GOVERNANCE PLATFORM</a:t>
            </a:r>
          </a:p>
          <a:p>
            <a:pPr>
              <a:spcBef>
                <a:spcPts val="600"/>
              </a:spcBef>
            </a:pPr>
            <a:r>
              <a:rPr sz="4800" b="1">
                <a:solidFill>
                  <a:srgbClr val="F8FAFC"/>
                </a:solidFill>
                <a:latin typeface="Calibri"/>
              </a:rPr>
              <a:t>CivicSense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2563EB"/>
                </a:solidFill>
                <a:latin typeface="Calibri"/>
              </a:rPr>
              <a:t>From Citizen Voice to Unified City Action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94A3B8"/>
                </a:solidFill>
                <a:latin typeface="Calibri"/>
              </a:rPr>
              <a:t>Automated Incident Consolidation, Real-Time GIS Heatmaps, Multilingual Accessibility &amp; Audit-Grade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2120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8FAFC"/>
                </a:solidFill>
              </a:rPr>
              <a:t>Live Production URL: </a:t>
            </a:r>
            <a:r>
              <a:rPr b="1">
                <a:solidFill>
                  <a:srgbClr val="06B6D4"/>
                </a:solidFill>
                <a:hlinkClick r:id="rId2"/>
              </a:rPr>
              <a:t>https://civic-sense-rouge.vercel.app</a:t>
            </a:r>
            <a:r>
              <a:rPr b="1">
                <a:solidFill>
                  <a:srgbClr val="F8FAFC"/>
                </a:solidFill>
              </a:rPr>
              <a:t>   |   GitHub: </a:t>
            </a:r>
            <a:r>
              <a:rPr b="1">
                <a:solidFill>
                  <a:srgbClr val="06B6D4"/>
                </a:solidFill>
                <a:hlinkClick r:id="rId3"/>
              </a:rPr>
              <a:t>github.com/panchaksharayya12/CivicSense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CIVICSENSE // SLIDE 02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The Urban Crisis: Failures in Traditional Grievance Redressal</a:t>
            </a:r>
          </a:p>
          <a:p>
            <a:r>
              <a:rPr sz="1300">
                <a:solidFill>
                  <a:srgbClr val="94A3B8"/>
                </a:solidFill>
                <a:latin typeface="Calibri"/>
              </a:rPr>
              <a:t>Municipal authorities struggle with fragmented channels, duplicate backlogs, and opacity.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EF4444"/>
                </a:solidFill>
                <a:latin typeface="Calibri"/>
              </a:rPr>
              <a:t>Siloed &amp; Fragmented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Disconnected Channels:</a:t>
            </a:r>
            <a:r>
              <a:rPr sz="1150">
                <a:solidFill>
                  <a:srgbClr val="94A3B8"/>
                </a:solidFill>
                <a:latin typeface="Calibri"/>
              </a:rPr>
              <a:t> Citizens report via phone calls, paper letters, separate departmental portals, and Twitter tags.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Lack of Centralized Record:</a:t>
            </a:r>
            <a:r>
              <a:rPr sz="1150">
                <a:solidFill>
                  <a:srgbClr val="94A3B8"/>
                </a:solidFill>
                <a:latin typeface="Calibri"/>
              </a:rPr>
              <a:t> Data is trapped in departmental silos with zero inter-agency coordination.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Lost in Transmission:</a:t>
            </a:r>
            <a:r>
              <a:rPr sz="1150">
                <a:solidFill>
                  <a:srgbClr val="94A3B8"/>
                </a:solidFill>
                <a:latin typeface="Calibri"/>
              </a:rPr>
              <a:t> Over 35% of citizen complaints are misrouted or abandoned before field triage.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The Duplication Crisis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50x Ticket Flooding:</a:t>
            </a:r>
            <a:r>
              <a:rPr sz="1150">
                <a:solidFill>
                  <a:srgbClr val="94A3B8"/>
                </a:solidFill>
                <a:latin typeface="Calibri"/>
              </a:rPr>
              <a:t> A single major water main burst generates 40-60 independent complaints.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Paralyzed Workflows:</a:t>
            </a:r>
            <a:r>
              <a:rPr sz="1150">
                <a:solidFill>
                  <a:srgbClr val="94A3B8"/>
                </a:solidFill>
                <a:latin typeface="Calibri"/>
              </a:rPr>
              <a:t> Officers waste hours processing redundant complaints rather than dispatching crews.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False Priority Escalation:</a:t>
            </a:r>
            <a:r>
              <a:rPr sz="1150">
                <a:solidFill>
                  <a:srgbClr val="94A3B8"/>
                </a:solidFill>
                <a:latin typeface="Calibri"/>
              </a:rPr>
              <a:t> Volume creates artificial noise while critical singular safety hazards get buried.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B5CF6"/>
                </a:solidFill>
                <a:latin typeface="Calibri"/>
              </a:rPr>
              <a:t>Opacity &amp; Civic Apathy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Administrative Black Box:</a:t>
            </a:r>
            <a:r>
              <a:rPr sz="1150">
                <a:solidFill>
                  <a:srgbClr val="94A3B8"/>
                </a:solidFill>
                <a:latin typeface="Calibri"/>
              </a:rPr>
              <a:t> Citizens receive a ticket number with zero live status updates or timelines.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Erosion of Trust:</a:t>
            </a:r>
            <a:r>
              <a:rPr sz="1150">
                <a:solidFill>
                  <a:srgbClr val="94A3B8"/>
                </a:solidFill>
                <a:latin typeface="Calibri"/>
              </a:rPr>
              <a:t> Over 68% of urban residents stop reporting civic issues due to perceived inaction.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Linguistic Barriers:</a:t>
            </a:r>
            <a:r>
              <a:rPr sz="1150">
                <a:solidFill>
                  <a:srgbClr val="94A3B8"/>
                </a:solidFill>
                <a:latin typeface="Calibri"/>
              </a:rPr>
              <a:t> Complex portals exclude citizens who speak regional languages (Kannada, Hindi, Tamil).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CIVICSENSE // SLIDE 03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The CivicSense Solution: Unified Municipal Intelligence</a:t>
            </a:r>
          </a:p>
          <a:p>
            <a:r>
              <a:rPr sz="1300">
                <a:solidFill>
                  <a:srgbClr val="94A3B8"/>
                </a:solidFill>
                <a:latin typeface="Calibri"/>
              </a:rPr>
              <a:t>Transforming disconnected citizen voices into coordinated, actionable municipal interventions.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Frictionless Citizen Portal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Voice Dictation:</a:t>
            </a:r>
            <a:r>
              <a:rPr sz="1150">
                <a:solidFill>
                  <a:srgbClr val="94A3B8"/>
                </a:solidFill>
                <a:latin typeface="Calibri"/>
              </a:rPr>
              <a:t> Native Web Speech API typing in 6 Indian languages removes literacy barriers.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Dual-Mode Geolocation:</a:t>
            </a:r>
            <a:r>
              <a:rPr sz="1150">
                <a:solidFill>
                  <a:srgbClr val="94A3B8"/>
                </a:solidFill>
                <a:latin typeface="Calibri"/>
              </a:rPr>
              <a:t> 1-click GPS detection plus interactive Leaflet pin-drop map picker.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Photo/Video Evidence:</a:t>
            </a:r>
            <a:r>
              <a:rPr sz="1150">
                <a:solidFill>
                  <a:srgbClr val="94A3B8"/>
                </a:solidFill>
                <a:latin typeface="Calibri"/>
              </a:rPr>
              <a:t> Upload high-resolution media to eliminate false or exaggerated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6B6D4"/>
                </a:solidFill>
                <a:latin typeface="Calibri"/>
              </a:rPr>
              <a:t>Consolidation Core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Spatial Clustering:</a:t>
            </a:r>
            <a:r>
              <a:rPr sz="1150">
                <a:solidFill>
                  <a:srgbClr val="94A3B8"/>
                </a:solidFill>
                <a:latin typeface="Calibri"/>
              </a:rPr>
              <a:t> Auto-merges complaints within 150m into a single Master Incident.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Dynamic Priority Score:</a:t>
            </a:r>
            <a:r>
              <a:rPr sz="1150">
                <a:solidFill>
                  <a:srgbClr val="94A3B8"/>
                </a:solidFill>
                <a:latin typeface="Calibri"/>
              </a:rPr>
              <a:t> Multiplies citizen report volume by domain hazard weights.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Cascading Resolution:</a:t>
            </a:r>
            <a:r>
              <a:rPr sz="1150">
                <a:solidFill>
                  <a:srgbClr val="94A3B8"/>
                </a:solidFill>
                <a:latin typeface="Calibri"/>
              </a:rPr>
              <a:t> Resolving one Master Incident automatically updates all reporting citizens.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Command &amp; Transparency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GIS Ward Heatmaps:</a:t>
            </a:r>
            <a:r>
              <a:rPr sz="1150">
                <a:solidFill>
                  <a:srgbClr val="94A3B8"/>
                </a:solidFill>
                <a:latin typeface="Calibri"/>
              </a:rPr>
              <a:t> Real-time visual monitoring of high-risk infrastructure across city wards.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Official Inspection Reports:</a:t>
            </a:r>
            <a:r>
              <a:rPr sz="1150">
                <a:solidFill>
                  <a:srgbClr val="94A3B8"/>
                </a:solidFill>
                <a:latin typeface="Calibri"/>
              </a:rPr>
              <a:t> 1-click generation of audit-grade bilingual PDF work orders.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SLA Countdown Timers:</a:t>
            </a:r>
            <a:r>
              <a:rPr sz="1150">
                <a:solidFill>
                  <a:srgbClr val="94A3B8"/>
                </a:solidFill>
                <a:latin typeface="Calibri"/>
              </a:rPr>
              <a:t> Departmental accountability with strict resolution deadlines.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CIVICSENSE // SLIDE 04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Enterprise Technical Architecture &amp; Modern Stack</a:t>
            </a:r>
          </a:p>
          <a:p>
            <a:r>
              <a:rPr sz="1300">
                <a:solidFill>
                  <a:srgbClr val="94A3B8"/>
                </a:solidFill>
                <a:latin typeface="Calibri"/>
              </a:rPr>
              <a:t>Built on Next.js 14 App Router, TypeScript, Tailwind CSS, Leaflet GIS, and Vercel Serverless.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Frontend &amp; UI Architecture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Next.js 14 App Router:</a:t>
            </a:r>
            <a:r>
              <a:rPr sz="1150">
                <a:solidFill>
                  <a:srgbClr val="94A3B8"/>
                </a:solidFill>
                <a:latin typeface="Calibri"/>
              </a:rPr>
              <a:t> High-performance React server components with client-side hydration.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TypeScript Strict Mode:</a:t>
            </a:r>
            <a:r>
              <a:rPr sz="1150">
                <a:solidFill>
                  <a:srgbClr val="94A3B8"/>
                </a:solidFill>
                <a:latin typeface="Calibri"/>
              </a:rPr>
              <a:t> Zero runtime type errors across complex incident data structures.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Tailwind CSS Tokens:</a:t>
            </a:r>
            <a:r>
              <a:rPr sz="1150">
                <a:solidFill>
                  <a:srgbClr val="94A3B8"/>
                </a:solidFill>
                <a:latin typeface="Calibri"/>
              </a:rPr>
              <a:t> Modular design system with accessible contrast and zero emojis.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GitHub Source:</a:t>
            </a:r>
            <a:r>
              <a:rPr sz="1150">
                <a:solidFill>
                  <a:srgbClr val="94A3B8"/>
                </a:solidFill>
                <a:latin typeface="Calibri"/>
              </a:rPr>
              <a:t> github.com/panchaksharayya12/CivicSense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6B6D4"/>
                </a:solidFill>
                <a:latin typeface="Calibri"/>
              </a:rPr>
              <a:t>Geospatial &amp; Intelligence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Leaflet 1.9 GIS:</a:t>
            </a:r>
            <a:r>
              <a:rPr sz="1150">
                <a:solidFill>
                  <a:srgbClr val="94A3B8"/>
                </a:solidFill>
                <a:latin typeface="Calibri"/>
              </a:rPr>
              <a:t> Interactive client-side map rendering with custom SVG markers and radius rings.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OpenStreetMap Tiles:</a:t>
            </a:r>
            <a:r>
              <a:rPr sz="1150">
                <a:solidFill>
                  <a:srgbClr val="94A3B8"/>
                </a:solidFill>
                <a:latin typeface="Calibri"/>
              </a:rPr>
              <a:t> Lightweight, cost-effective spatial mapping with zero proprietary vendor lock-in.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Web Speech API:</a:t>
            </a:r>
            <a:r>
              <a:rPr sz="1150">
                <a:solidFill>
                  <a:srgbClr val="94A3B8"/>
                </a:solidFill>
                <a:latin typeface="Calibri"/>
              </a:rPr>
              <a:t> Integrated client-side speech-to-text recognition for multi-dialect dictation.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Google Gemini AI:</a:t>
            </a:r>
            <a:r>
              <a:rPr sz="1150">
                <a:solidFill>
                  <a:srgbClr val="94A3B8"/>
                </a:solidFill>
                <a:latin typeface="Calibri"/>
              </a:rPr>
              <a:t> Automated severity classification and conversational civic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Deployment &amp; Edge Operations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Vercel Global Edge:</a:t>
            </a:r>
            <a:r>
              <a:rPr sz="1150">
                <a:solidFill>
                  <a:srgbClr val="94A3B8"/>
                </a:solidFill>
                <a:latin typeface="Calibri"/>
              </a:rPr>
              <a:t> Sub-second global page loads and instant serverless API execution.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Continuous Deployment:</a:t>
            </a:r>
            <a:r>
              <a:rPr sz="1150">
                <a:solidFill>
                  <a:srgbClr val="94A3B8"/>
                </a:solidFill>
                <a:latin typeface="Calibri"/>
              </a:rPr>
              <a:t> Every GitHub main push automatically triggers tests and production builds.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Resilient State Storage:</a:t>
            </a:r>
            <a:r>
              <a:rPr sz="1150">
                <a:solidFill>
                  <a:srgbClr val="94A3B8"/>
                </a:solidFill>
                <a:latin typeface="Calibri"/>
              </a:rPr>
              <a:t> Dual-layer persistence with session fallbacks for offline resilience.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Live Verified:</a:t>
            </a:r>
            <a:r>
              <a:rPr sz="1150">
                <a:solidFill>
                  <a:srgbClr val="94A3B8"/>
                </a:solidFill>
                <a:latin typeface="Calibri"/>
              </a:rPr>
              <a:t> 44 compiled routes running in production with 100% build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CIVICSENSE // SLIDE 05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Citizen Experience: The 4-Step Frictionless Reporting Wizard</a:t>
            </a:r>
          </a:p>
          <a:p>
            <a:r>
              <a:rPr sz="1300">
                <a:solidFill>
                  <a:srgbClr val="94A3B8"/>
                </a:solidFill>
                <a:latin typeface="Calibri"/>
              </a:rPr>
              <a:t>From problem identification to verified municipal ticket in under 60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920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Step 1: Domain &amp; Voice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6 Municipal Domains:</a:t>
            </a:r>
            <a:r>
              <a:rPr sz="1150">
                <a:solidFill>
                  <a:srgbClr val="94A3B8"/>
                </a:solidFill>
                <a:latin typeface="Calibri"/>
              </a:rPr>
              <a:t> Roads, Water, Electricity, Sanitation, Drainage, Health.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Specific Sub-Issues:</a:t>
            </a:r>
            <a:r>
              <a:rPr sz="1150">
                <a:solidFill>
                  <a:srgbClr val="94A3B8"/>
                </a:solidFill>
                <a:latin typeface="Calibri"/>
              </a:rPr>
              <a:t> Potholes, broken streetlights, contaminated water, blocked drains.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Voice Dictation:</a:t>
            </a:r>
            <a:r>
              <a:rPr sz="1150">
                <a:solidFill>
                  <a:srgbClr val="94A3B8"/>
                </a:solidFill>
                <a:latin typeface="Calibri"/>
              </a:rPr>
              <a:t> Speak into microphone to auto-type description in regional languages.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03120"/>
            <a:ext cx="1920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6B6D4"/>
                </a:solidFill>
                <a:latin typeface="Calibri"/>
              </a:rPr>
              <a:t>Step 2: Dual Geolocation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1-Click GPS Detect:</a:t>
            </a:r>
            <a:r>
              <a:rPr sz="1150">
                <a:solidFill>
                  <a:srgbClr val="94A3B8"/>
                </a:solidFill>
                <a:latin typeface="Calibri"/>
              </a:rPr>
              <a:t> Instant HTML5 geolocation retrieves coordinates to within 5m.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Manual Address:</a:t>
            </a:r>
            <a:r>
              <a:rPr sz="1150">
                <a:solidFill>
                  <a:srgbClr val="94A3B8"/>
                </a:solidFill>
                <a:latin typeface="Calibri"/>
              </a:rPr>
              <a:t> Street, landmark, and ward entry for non-GPS situations.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Pin-Drop Picker:</a:t>
            </a:r>
            <a:r>
              <a:rPr sz="1150">
                <a:solidFill>
                  <a:srgbClr val="94A3B8"/>
                </a:solidFill>
                <a:latin typeface="Calibri"/>
              </a:rPr>
              <a:t> Drag and drop pin directly on the physical defect on interactive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1920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Step 3: Evidence Media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Camera Capture:</a:t>
            </a:r>
            <a:r>
              <a:rPr sz="1150">
                <a:solidFill>
                  <a:srgbClr val="94A3B8"/>
                </a:solidFill>
                <a:latin typeface="Calibri"/>
              </a:rPr>
              <a:t> Direct mobile photo/video recording on site.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File Uploads:</a:t>
            </a:r>
            <a:r>
              <a:rPr sz="1150">
                <a:solidFill>
                  <a:srgbClr val="94A3B8"/>
                </a:solidFill>
                <a:latin typeface="Calibri"/>
              </a:rPr>
              <a:t> Accepts JPEG, PNG, and MP4 media evidence.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Automated Compression:</a:t>
            </a:r>
            <a:r>
              <a:rPr sz="1150">
                <a:solidFill>
                  <a:srgbClr val="94A3B8"/>
                </a:solidFill>
                <a:latin typeface="Calibri"/>
              </a:rPr>
              <a:t> High-speed upload with client-side thumbnail rendering.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103120"/>
            <a:ext cx="1920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8B5CF6"/>
                </a:solidFill>
                <a:latin typeface="Calibri"/>
              </a:rPr>
              <a:t>Step 4: Live Tracking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Unique Docket ID:</a:t>
            </a:r>
            <a:r>
              <a:rPr sz="1150">
                <a:solidFill>
                  <a:srgbClr val="94A3B8"/>
                </a:solidFill>
                <a:latin typeface="Calibri"/>
              </a:rPr>
              <a:t> Instant generation of permanent ID (e.g. CS-2026-00001).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5-Stage Progress Bar:</a:t>
            </a:r>
            <a:r>
              <a:rPr sz="1150">
                <a:solidFill>
                  <a:srgbClr val="94A3B8"/>
                </a:solidFill>
                <a:latin typeface="Calibri"/>
              </a:rPr>
              <a:t> Submitted, Verified, Assigned, In Progress, Resolved.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Officer Details:</a:t>
            </a:r>
            <a:r>
              <a:rPr sz="1150">
                <a:solidFill>
                  <a:srgbClr val="94A3B8"/>
                </a:solidFill>
                <a:latin typeface="Calibri"/>
              </a:rPr>
              <a:t> Assigned engineer contact, department seal, and resolution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CIVICSENSE // SLIDE 06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Automated Incident Consolidation: Solving the 50x Duplication Crisis</a:t>
            </a:r>
          </a:p>
          <a:p>
            <a:r>
              <a:rPr sz="1300">
                <a:solidFill>
                  <a:srgbClr val="94A3B8"/>
                </a:solidFill>
                <a:latin typeface="Calibri"/>
              </a:rPr>
              <a:t>Spatial clustering correlates individual complaints into high-impact Master Incidents.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1. Spatial Radius Matching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150m Proximity Threshold:</a:t>
            </a:r>
            <a:r>
              <a:rPr sz="1150">
                <a:solidFill>
                  <a:srgbClr val="94A3B8"/>
                </a:solidFill>
                <a:latin typeface="Calibri"/>
              </a:rPr>
              <a:t> Evaluates latitude and longitude using the Haversine formula.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Domain Matching:</a:t>
            </a:r>
            <a:r>
              <a:rPr sz="1150">
                <a:solidFill>
                  <a:srgbClr val="94A3B8"/>
                </a:solidFill>
                <a:latin typeface="Calibri"/>
              </a:rPr>
              <a:t> Checks whether complaints share identical infrastructure categories.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Clustering Trigger:</a:t>
            </a:r>
            <a:r>
              <a:rPr sz="1150">
                <a:solidFill>
                  <a:srgbClr val="94A3B8"/>
                </a:solidFill>
                <a:latin typeface="Calibri"/>
              </a:rPr>
              <a:t> Multiple reports trigger automatic cluster creation without manual officer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6B6D4"/>
                </a:solidFill>
                <a:latin typeface="Calibri"/>
              </a:rPr>
              <a:t>2. Master Incident Synthesis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Unified Master Ticket:</a:t>
            </a:r>
            <a:r>
              <a:rPr sz="1150">
                <a:solidFill>
                  <a:srgbClr val="94A3B8"/>
                </a:solidFill>
                <a:latin typeface="Calibri"/>
              </a:rPr>
              <a:t> Synthesizes individual reports into a Master Incident (e.g., INC-2026-001).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Citizen Impact Counter:</a:t>
            </a:r>
            <a:r>
              <a:rPr sz="1150">
                <a:solidFill>
                  <a:srgbClr val="94A3B8"/>
                </a:solidFill>
                <a:latin typeface="Calibri"/>
              </a:rPr>
              <a:t> Dynamically counts all verified reporting citizens.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Priority Score Algorithm:</a:t>
            </a:r>
            <a:r>
              <a:rPr sz="1150">
                <a:solidFill>
                  <a:srgbClr val="94A3B8"/>
                </a:solidFill>
                <a:latin typeface="Calibri"/>
              </a:rPr>
              <a:t> Priority = Volume x Severity Weight x Public Hazard Coefficient.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3. Simultaneous Cascade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1 Municipal Crew:</a:t>
            </a:r>
            <a:r>
              <a:rPr sz="1150">
                <a:solidFill>
                  <a:srgbClr val="94A3B8"/>
                </a:solidFill>
                <a:latin typeface="Calibri"/>
              </a:rPr>
              <a:t> 1 work order dispatched instead of 15 redundant repair teams.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Real-Time Synchronized Update:</a:t>
            </a:r>
            <a:r>
              <a:rPr sz="1150">
                <a:solidFill>
                  <a:srgbClr val="94A3B8"/>
                </a:solidFill>
                <a:latin typeface="Calibri"/>
              </a:rPr>
              <a:t> Repair status updates automatically propagate across all 15 tickets.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Citizen Feedback Loop:</a:t>
            </a:r>
            <a:r>
              <a:rPr sz="1150">
                <a:solidFill>
                  <a:srgbClr val="94A3B8"/>
                </a:solidFill>
                <a:latin typeface="Calibri"/>
              </a:rPr>
              <a:t> All reporting citizens receive simultaneous resolution confirmation.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CIVICSENSE // SLIDE 07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Municipal Operations Command: Real-Time GIS Heatmaps &amp; Triage</a:t>
            </a:r>
          </a:p>
          <a:p>
            <a:r>
              <a:rPr sz="1300">
                <a:solidFill>
                  <a:srgbClr val="94A3B8"/>
                </a:solidFill>
                <a:latin typeface="Calibri"/>
              </a:rPr>
              <a:t>Equipping city department heads with real-time operational oversight and SLA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Interactive GIS Command Map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Ward Boundary Overlays:</a:t>
            </a:r>
            <a:r>
              <a:rPr sz="1150">
                <a:solidFill>
                  <a:srgbClr val="94A3B8"/>
                </a:solidFill>
                <a:latin typeface="Calibri"/>
              </a:rPr>
              <a:t> Pinpoint complaints across municipal wards and electoral zones.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Color-Coded Urgency:</a:t>
            </a:r>
            <a:r>
              <a:rPr sz="1150">
                <a:solidFill>
                  <a:srgbClr val="94A3B8"/>
                </a:solidFill>
                <a:latin typeface="Calibri"/>
              </a:rPr>
              <a:t> Red (Critical/Emergency), Orange (High), Yellow (Medium), Green (Resolved).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Cluster Radius Rings:</a:t>
            </a:r>
            <a:r>
              <a:rPr sz="1150">
                <a:solidFill>
                  <a:srgbClr val="94A3B8"/>
                </a:solidFill>
                <a:latin typeface="Calibri"/>
              </a:rPr>
              <a:t> Visual circular boundaries highlighting incident consolidation zones.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Direct Link:</a:t>
            </a:r>
            <a:r>
              <a:rPr sz="1150">
                <a:solidFill>
                  <a:srgbClr val="94A3B8"/>
                </a:solidFill>
                <a:latin typeface="Calibri"/>
              </a:rPr>
              <a:t> /admin/map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6B6D4"/>
                </a:solidFill>
                <a:latin typeface="Calibri"/>
              </a:rPr>
              <a:t>Departmental Auto-Routing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BBMP Roads &amp; Infrastructure:</a:t>
            </a:r>
            <a:r>
              <a:rPr sz="1150">
                <a:solidFill>
                  <a:srgbClr val="94A3B8"/>
                </a:solidFill>
                <a:latin typeface="Calibri"/>
              </a:rPr>
              <a:t> Automated dispatch for potholes and caved-in footpaths.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BESCOM Power &amp; Lighting:</a:t>
            </a:r>
            <a:r>
              <a:rPr sz="1150">
                <a:solidFill>
                  <a:srgbClr val="94A3B8"/>
                </a:solidFill>
                <a:latin typeface="Calibri"/>
              </a:rPr>
              <a:t> Immediate alert for severed high-voltage wires and transformer faults.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BWSSB Water &amp; Sewage:</a:t>
            </a:r>
            <a:r>
              <a:rPr sz="1150">
                <a:solidFill>
                  <a:srgbClr val="94A3B8"/>
                </a:solidFill>
                <a:latin typeface="Calibri"/>
              </a:rPr>
              <a:t> Automatic escalation for ruptured water mains and sewage backups.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SLA Timers:</a:t>
            </a:r>
            <a:r>
              <a:rPr sz="1150">
                <a:solidFill>
                  <a:srgbClr val="94A3B8"/>
                </a:solidFill>
                <a:latin typeface="Calibri"/>
              </a:rPr>
              <a:t> Dynamic countdown clocks track compliance against municipal service guarantees.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Emergency Helplines Directory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Disaster Management (1077):</a:t>
            </a:r>
            <a:r>
              <a:rPr sz="1150">
                <a:solidFill>
                  <a:srgbClr val="94A3B8"/>
                </a:solidFill>
                <a:latin typeface="Calibri"/>
              </a:rPr>
              <a:t> 1-click speed dial for floods and building collapses.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Ambulance &amp; Fire Services (108 / 101):</a:t>
            </a:r>
            <a:r>
              <a:rPr sz="1150">
                <a:solidFill>
                  <a:srgbClr val="94A3B8"/>
                </a:solidFill>
                <a:latin typeface="Calibri"/>
              </a:rPr>
              <a:t> Instant escalation for life-threatening civic incidents.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Power &amp; Water Grievance Helplines:</a:t>
            </a:r>
            <a:r>
              <a:rPr sz="1150">
                <a:solidFill>
                  <a:srgbClr val="94A3B8"/>
                </a:solidFill>
                <a:latin typeface="Calibri"/>
              </a:rPr>
              <a:t> Direct contacts for divisional executive engineers.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Direct Link:</a:t>
            </a:r>
            <a:r>
              <a:rPr sz="1150">
                <a:solidFill>
                  <a:srgbClr val="94A3B8"/>
                </a:solidFill>
                <a:latin typeface="Calibri"/>
              </a:rPr>
              <a:t> /admin/helplines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CIVICSENSE // SLIDE 08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Official Government Inspection Reports &amp; Public Auditability</a:t>
            </a:r>
          </a:p>
          <a:p>
            <a:r>
              <a:rPr sz="1300">
                <a:solidFill>
                  <a:srgbClr val="94A3B8"/>
                </a:solidFill>
                <a:latin typeface="Calibri"/>
              </a:rPr>
              <a:t>Transforming digital tickets into legally compliant, audit-ready municipal documentation.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Bilingual Official Format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Municipal Header &amp; Seal:</a:t>
            </a:r>
            <a:r>
              <a:rPr sz="1150">
                <a:solidFill>
                  <a:srgbClr val="94A3B8"/>
                </a:solidFill>
                <a:latin typeface="Calibri"/>
              </a:rPr>
              <a:t> Formal government crest, department seal, and docket reference number.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State Language Compliance:</a:t>
            </a:r>
            <a:r>
              <a:rPr sz="1150">
                <a:solidFill>
                  <a:srgbClr val="94A3B8"/>
                </a:solidFill>
                <a:latin typeface="Calibri"/>
              </a:rPr>
              <a:t> Headings and section descriptions provided in English and regional scripts.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Permanent Audit Docket:</a:t>
            </a:r>
            <a:r>
              <a:rPr sz="1150">
                <a:solidFill>
                  <a:srgbClr val="94A3B8"/>
                </a:solidFill>
                <a:latin typeface="Calibri"/>
              </a:rPr>
              <a:t> Formatted specifically for municipal records and Comptroller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6B6D4"/>
                </a:solidFill>
                <a:latin typeface="Calibri"/>
              </a:rPr>
              <a:t>On-Site Verification Evidence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High-Resolution Field Photos:</a:t>
            </a:r>
            <a:r>
              <a:rPr sz="1150">
                <a:solidFill>
                  <a:srgbClr val="94A3B8"/>
                </a:solidFill>
                <a:latin typeface="Calibri"/>
              </a:rPr>
              <a:t> Timestamped before-and-after photographic proof.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GPS Coordinates Verification:</a:t>
            </a:r>
            <a:r>
              <a:rPr sz="1150">
                <a:solidFill>
                  <a:srgbClr val="94A3B8"/>
                </a:solidFill>
                <a:latin typeface="Calibri"/>
              </a:rPr>
              <a:t> Exact latitude/longitude coordinates logged to prevent proxy inspections.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Material &amp; Labor Estimates:</a:t>
            </a:r>
            <a:r>
              <a:rPr sz="1150">
                <a:solidFill>
                  <a:srgbClr val="94A3B8"/>
                </a:solidFill>
                <a:latin typeface="Calibri"/>
              </a:rPr>
              <a:t> Detailed technical line items for contractor work 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Legal Sign-Off &amp; Print-Ready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Executive Engineer Signature Block:</a:t>
            </a:r>
            <a:r>
              <a:rPr sz="1150">
                <a:solidFill>
                  <a:srgbClr val="94A3B8"/>
                </a:solidFill>
                <a:latin typeface="Calibri"/>
              </a:rPr>
              <a:t> Formal physical/digital approval stamping zone.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Contractor Acknowledgement:</a:t>
            </a:r>
            <a:r>
              <a:rPr sz="1150">
                <a:solidFill>
                  <a:srgbClr val="94A3B8"/>
                </a:solidFill>
                <a:latin typeface="Calibri"/>
              </a:rPr>
              <a:t> Legally binding completion and liability sign-off.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1-Click PDF Export:</a:t>
            </a:r>
            <a:r>
              <a:rPr sz="1150">
                <a:solidFill>
                  <a:srgbClr val="94A3B8"/>
                </a:solidFill>
                <a:latin typeface="Calibri"/>
              </a:rPr>
              <a:t> Clean A4 print stylesheet formatting with zero web layout artifacts.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Direct Link:</a:t>
            </a:r>
            <a:r>
              <a:rPr sz="1150">
                <a:solidFill>
                  <a:srgbClr val="94A3B8"/>
                </a:solidFill>
                <a:latin typeface="Calibri"/>
              </a:rPr>
              <a:t> /admin/complaints/[id]/report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CIVICSENSE // SLIDE 09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Production Deployment &amp; Verified Performance Metrics</a:t>
            </a:r>
          </a:p>
          <a:p>
            <a:r>
              <a:rPr sz="1300">
                <a:solidFill>
                  <a:srgbClr val="94A3B8"/>
                </a:solidFill>
                <a:latin typeface="Calibri"/>
              </a:rPr>
              <a:t>Deployed on Vercel Global Edge and fully integrated with GitHub continuous integration.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Cloud Infrastructure Details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Primary Live URL:</a:t>
            </a:r>
            <a:r>
              <a:rPr sz="1150">
                <a:solidFill>
                  <a:srgbClr val="94A3B8"/>
                </a:solidFill>
                <a:latin typeface="Calibri"/>
              </a:rPr>
              <a:t> https://civic-sense-rouge.vercel.app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Alternate Domain:</a:t>
            </a:r>
            <a:r>
              <a:rPr sz="1150">
                <a:solidFill>
                  <a:srgbClr val="94A3B8"/>
                </a:solidFill>
                <a:latin typeface="Calibri"/>
              </a:rPr>
              <a:t> https://civic-sense-panchaksharayya12.vercel.app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GitHub Repository:</a:t>
            </a:r>
            <a:r>
              <a:rPr sz="1150">
                <a:solidFill>
                  <a:srgbClr val="94A3B8"/>
                </a:solidFill>
                <a:latin typeface="Calibri"/>
              </a:rPr>
              <a:t> https://github.com/panchaksharayya12/CivicSense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Vercel Edge Global CDN:</a:t>
            </a:r>
            <a:r>
              <a:rPr sz="1150">
                <a:solidFill>
                  <a:srgbClr val="94A3B8"/>
                </a:solidFill>
                <a:latin typeface="Calibri"/>
              </a:rPr>
              <a:t> Sub-second latency across Indian metropolitan regions.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Zero SSO Barrier:</a:t>
            </a:r>
            <a:r>
              <a:rPr sz="1150">
                <a:solidFill>
                  <a:srgbClr val="94A3B8"/>
                </a:solidFill>
                <a:latin typeface="Calibri"/>
              </a:rPr>
              <a:t> Publicly accessible to citizens and evaluators without login barriers.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6B6D4"/>
                </a:solidFill>
                <a:latin typeface="Calibri"/>
              </a:rPr>
              <a:t>Production Build Health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44 Validated Routes:</a:t>
            </a:r>
            <a:r>
              <a:rPr sz="1150">
                <a:solidFill>
                  <a:srgbClr val="94A3B8"/>
                </a:solidFill>
                <a:latin typeface="Calibri"/>
              </a:rPr>
              <a:t> 100% build pass across static pages, dynamic paths, and serverless APIs.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Zero TypeScript Errors:</a:t>
            </a:r>
            <a:r>
              <a:rPr sz="1150">
                <a:solidFill>
                  <a:srgbClr val="94A3B8"/>
                </a:solidFill>
                <a:latin typeface="Calibri"/>
              </a:rPr>
              <a:t> Strict type checking verified via npx tsc --noEmit.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Zero Emojis:</a:t>
            </a:r>
            <a:r>
              <a:rPr sz="1150">
                <a:solidFill>
                  <a:srgbClr val="94A3B8"/>
                </a:solidFill>
                <a:latin typeface="Calibri"/>
              </a:rPr>
              <a:t> Professional enterprise styling across all UI elements, commits, and reports.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Interactive Presentation Deck:</a:t>
            </a:r>
            <a:r>
              <a:rPr sz="1150">
                <a:solidFill>
                  <a:srgbClr val="94A3B8"/>
                </a:solidFill>
                <a:latin typeface="Calibri"/>
              </a:rPr>
              <a:t> Live at /presentation.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Projected Municipal Impact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68% Reduction in Redundant Dispatches:</a:t>
            </a:r>
            <a:r>
              <a:rPr sz="1150">
                <a:solidFill>
                  <a:srgbClr val="94A3B8"/>
                </a:solidFill>
                <a:latin typeface="Calibri"/>
              </a:rPr>
              <a:t> Due to automated 150m incident consolidation.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3.2x Faster SLA Turnaround:</a:t>
            </a:r>
            <a:r>
              <a:rPr sz="1150">
                <a:solidFill>
                  <a:srgbClr val="94A3B8"/>
                </a:solidFill>
                <a:latin typeface="Calibri"/>
              </a:rPr>
              <a:t> Automated departmental routing cuts administrative triage time.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82% Higher Citizen Satisfaction:</a:t>
            </a:r>
            <a:r>
              <a:rPr sz="1150">
                <a:solidFill>
                  <a:srgbClr val="94A3B8"/>
                </a:solidFill>
                <a:latin typeface="Calibri"/>
              </a:rPr>
              <a:t> Driven by real-time SMS/web tracking and transparent timelines.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Calibri"/>
              </a:rPr>
              <a:t>CIVICSENSE // SLIDE 10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FAFC"/>
                </a:solidFill>
                <a:latin typeface="Calibri"/>
              </a:rPr>
              <a:t>Future Strategic Vision &amp; Conclusion</a:t>
            </a:r>
          </a:p>
          <a:p>
            <a:r>
              <a:rPr sz="1300">
                <a:solidFill>
                  <a:srgbClr val="94A3B8"/>
                </a:solidFill>
                <a:latin typeface="Calibri"/>
              </a:rPr>
              <a:t>Pioneering autonomous, citizen-first smart urban governance for tomorrow's cities.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563EB"/>
                </a:solidFill>
                <a:latin typeface="Calibri"/>
              </a:rPr>
              <a:t>Near-Term Expansion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WhatsApp Business API:</a:t>
            </a:r>
            <a:r>
              <a:rPr sz="1150">
                <a:solidFill>
                  <a:srgbClr val="94A3B8"/>
                </a:solidFill>
                <a:latin typeface="Calibri"/>
              </a:rPr>
              <a:t> Report potholes and broken streetlights by sending a photo and live location on WhatsApp.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Automated SMS Gateway:</a:t>
            </a:r>
            <a:r>
              <a:rPr sz="1150">
                <a:solidFill>
                  <a:srgbClr val="94A3B8"/>
                </a:solidFill>
                <a:latin typeface="Calibri"/>
              </a:rPr>
              <a:t> Instant SMS alerts with live tracking links for non-smartphone citizens.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Voice Telephony IVR:</a:t>
            </a:r>
            <a:r>
              <a:rPr sz="1150">
                <a:solidFill>
                  <a:srgbClr val="94A3B8"/>
                </a:solidFill>
                <a:latin typeface="Calibri"/>
              </a:rPr>
              <a:t> Interactive voice response integration for landline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6B6D4"/>
                </a:solidFill>
                <a:latin typeface="Calibri"/>
              </a:rPr>
              <a:t>Long-Term Smart City Vision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Autonomous Drone Verification:</a:t>
            </a:r>
            <a:r>
              <a:rPr sz="1150">
                <a:solidFill>
                  <a:srgbClr val="94A3B8"/>
                </a:solidFill>
                <a:latin typeface="Calibri"/>
              </a:rPr>
              <a:t> Aerial drones verify repaired asphalt before contractor invoices are approved.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IoT Sensor Fusion:</a:t>
            </a:r>
            <a:r>
              <a:rPr sz="1150">
                <a:solidFill>
                  <a:srgbClr val="94A3B8"/>
                </a:solidFill>
                <a:latin typeface="Calibri"/>
              </a:rPr>
              <a:t> Inundation sensors and smart garbage bin levels auto-generate tickets automatically.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Predictive Infrastructure AI:</a:t>
            </a:r>
            <a:r>
              <a:rPr sz="1150">
                <a:solidFill>
                  <a:srgbClr val="94A3B8"/>
                </a:solidFill>
                <a:latin typeface="Calibri"/>
              </a:rPr>
              <a:t> Machine learning models anticipate pipe failures before ruptures occur.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03120"/>
            <a:ext cx="2743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Conclusion &amp; Call to Action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CivicSense is ready for municipal deployment today.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Empowers citizens with a transparent, responsive voice.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150">
                <a:solidFill>
                  <a:srgbClr val="94A3B8"/>
                </a:solidFill>
                <a:latin typeface="Calibri"/>
              </a:rPr>
              <a:t>Arms municipal departments with real-time operational clarity.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Visit Live:</a:t>
            </a:r>
            <a:r>
              <a:rPr sz="1150">
                <a:solidFill>
                  <a:srgbClr val="94A3B8"/>
                </a:solidFill>
                <a:latin typeface="Calibri"/>
              </a:rPr>
              <a:t> https://civic-sense-rouge.vercel.app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Inspect Code:</a:t>
            </a:r>
            <a:r>
              <a:rPr sz="1150">
                <a:solidFill>
                  <a:srgbClr val="94A3B8"/>
                </a:solidFill>
                <a:latin typeface="Calibri"/>
              </a:rPr>
              <a:t> github.com/panchaksharayya12/CivicSense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